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车载告警音分类系统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828800" cy="457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EC4B6"/>
                </a:solidFill>
                <a:latin typeface="Arial"/>
              </a:defRPr>
            </a:pPr>
            <a:r>
              <a:t>Alarm Sound Classification — CNN + GRU Multi-Label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端到端解决方案：从数据管线到推理部署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" cy="457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项目概述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474720" cy="1828800"/>
          </a:xfrm>
          <a:prstGeom prst="rect">
            <a:avLst/>
          </a:prstGeom>
          <a:solidFill>
            <a:srgbClr val="162344"/>
          </a:solidFill>
          <a:ln w="254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2EC4B6"/>
                </a:solidFill>
                <a:latin typeface="Arial"/>
              </a:defRPr>
            </a:pPr>
            <a:r>
              <a:t>输入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车载麦克风单声道音频（10-30s）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可能包含：多种告警叠加、TTS 语音、发动机/行驶噪声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1280160"/>
            <a:ext cx="3474720" cy="1828800"/>
          </a:xfrm>
          <a:prstGeom prst="rect">
            <a:avLst/>
          </a:prstGeom>
          <a:solidFill>
            <a:srgbClr val="162344"/>
          </a:solidFill>
          <a:ln w="254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2EC4B6"/>
                </a:solidFill>
                <a:latin typeface="Arial"/>
              </a:defRPr>
            </a:pPr>
            <a:r>
              <a:t>输出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检测到的告警类别及名称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每类告警的响铃时间点（起止时间）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响铃总次数（连续模式按周期推算）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280160"/>
            <a:ext cx="3474720" cy="1828800"/>
          </a:xfrm>
          <a:prstGeom prst="rect">
            <a:avLst/>
          </a:prstGeom>
          <a:solidFill>
            <a:srgbClr val="162344"/>
          </a:solidFill>
          <a:ln w="254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2EC4B6"/>
                </a:solidFill>
                <a:latin typeface="Arial"/>
              </a:defRPr>
            </a:pPr>
            <a:r>
              <a:t>场景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实时车载：单告警 / 多告警重叠 / +TTS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不同距离、不同音量的识别鲁棒性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383280"/>
            <a:ext cx="10972800" cy="914400"/>
          </a:xfrm>
          <a:prstGeom prst="rect">
            <a:avLst/>
          </a:prstGeom>
          <a:solidFill>
            <a:srgbClr val="162344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E76F51"/>
                </a:solidFill>
                <a:latin typeface="Arial"/>
              </a:defRPr>
            </a:pPr>
            <a:r>
              <a:t>核心目标：从 6 类纯净单周期模板出发，仅用少量手动录制音频，训练一个能处理重叠告警、区分节奏差异、抗噪声干扰的鲁棒多标签分类器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" cy="457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6 类告警音 — 周期结构与特征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474720" cy="2011680"/>
          </a:xfrm>
          <a:prstGeom prst="rect">
            <a:avLst/>
          </a:prstGeom>
          <a:solidFill>
            <a:srgbClr val="162344"/>
          </a:solidFill>
          <a:ln w="25400">
            <a:solidFill>
              <a:srgbClr val="0A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E76F51"/>
                </a:solidFill>
                <a:latin typeface="Arial"/>
              </a:defRPr>
            </a:pPr>
            <a:r>
              <a:t>ACC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周期 750ms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3×250ms 脉冲（125ms响/125ms停）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59" y="1280160"/>
            <a:ext cx="3474720" cy="2011680"/>
          </a:xfrm>
          <a:prstGeom prst="rect">
            <a:avLst/>
          </a:prstGeom>
          <a:solidFill>
            <a:srgbClr val="162344"/>
          </a:solidFill>
          <a:ln w="25400">
            <a:solidFill>
              <a:srgbClr val="0A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E76F51"/>
                </a:solidFill>
                <a:latin typeface="Arial"/>
              </a:defRPr>
            </a:pPr>
            <a:r>
              <a:t>Caution1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周期 500ms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500ms 持续高能量纯音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280160"/>
            <a:ext cx="3474720" cy="2011680"/>
          </a:xfrm>
          <a:prstGeom prst="rect">
            <a:avLst/>
          </a:prstGeom>
          <a:solidFill>
            <a:srgbClr val="162344"/>
          </a:solidFill>
          <a:ln w="25400">
            <a:solidFill>
              <a:srgbClr val="0A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E76F51"/>
                </a:solidFill>
                <a:latin typeface="Arial"/>
              </a:defRPr>
            </a:pPr>
            <a:r>
              <a:t>Caution2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周期 1000ms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500ms 响 + 500ms 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66160"/>
            <a:ext cx="3474720" cy="2011680"/>
          </a:xfrm>
          <a:prstGeom prst="rect">
            <a:avLst/>
          </a:prstGeom>
          <a:solidFill>
            <a:srgbClr val="162344"/>
          </a:solidFill>
          <a:ln w="25400">
            <a:solidFill>
              <a:srgbClr val="0A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E76F51"/>
                </a:solidFill>
                <a:latin typeface="Arial"/>
              </a:defRPr>
            </a:pPr>
            <a:r>
              <a:t>Dooropen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周期 750ms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500ms 高位 + 250ms 低位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3566160"/>
            <a:ext cx="3474720" cy="2011680"/>
          </a:xfrm>
          <a:prstGeom prst="rect">
            <a:avLst/>
          </a:prstGeom>
          <a:solidFill>
            <a:srgbClr val="162344"/>
          </a:solidFill>
          <a:ln w="25400">
            <a:solidFill>
              <a:srgbClr val="0A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E76F51"/>
                </a:solidFill>
                <a:latin typeface="Arial"/>
              </a:defRPr>
            </a:pPr>
            <a:r>
              <a:t>FCW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周期 750ms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3×250ms 脉冲（与 ACC 同节奏，不同频率）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3566160"/>
            <a:ext cx="3474720" cy="2011680"/>
          </a:xfrm>
          <a:prstGeom prst="rect">
            <a:avLst/>
          </a:prstGeom>
          <a:solidFill>
            <a:srgbClr val="162344"/>
          </a:solidFill>
          <a:ln w="25400">
            <a:solidFill>
              <a:srgbClr val="0A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E76F51"/>
                </a:solidFill>
                <a:latin typeface="Arial"/>
              </a:defRPr>
            </a:pPr>
            <a:r>
              <a:t>FEB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周期 720ms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3×240ms 脉冲（120ms响/120ms停）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Arial"/>
              </a:defRPr>
            </a:pPr>
            <a:r>
              <a:t>关键区分点：ACC/FCW/FEB 都是脉冲型，靠频率区分。Caution1/Caution2 响的部分相同，靠'是否有停'区分。纯频谱不够，必须时序建模。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" cy="457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核心挑战与解决方案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486400" cy="1554480"/>
          </a:xfrm>
          <a:prstGeom prst="rect">
            <a:avLst/>
          </a:prstGeom>
          <a:solidFill>
            <a:srgbClr val="162344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E76F51"/>
                </a:solidFill>
                <a:latin typeface="Arial"/>
              </a:defRPr>
            </a:pPr>
            <a:r>
              <a:t>极少量训练数据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每个告警仅 1 个纯净单周期文件，无大规模标注数据集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模板铺放增强 → 完整周期作为原子，随机位移+噪声合成无限样本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017520"/>
            <a:ext cx="5486400" cy="1554480"/>
          </a:xfrm>
          <a:prstGeom prst="rect">
            <a:avLst/>
          </a:prstGeom>
          <a:solidFill>
            <a:srgbClr val="162344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E76F51"/>
                </a:solidFill>
                <a:latin typeface="Arial"/>
              </a:defRPr>
            </a:pPr>
            <a:r>
              <a:t>多告警重叠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2-3 个告警同时响，频谱混合难以分离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多热标签 + BCEWithLogitsLoss → 每个类独立 sigmoid，允许同时输出多个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79"/>
            <a:ext cx="5486400" cy="1554480"/>
          </a:xfrm>
          <a:prstGeom prst="rect">
            <a:avLst/>
          </a:prstGeom>
          <a:solidFill>
            <a:srgbClr val="162344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E76F51"/>
                </a:solidFill>
                <a:latin typeface="Arial"/>
              </a:defRPr>
            </a:pPr>
            <a:r>
              <a:t>人声/TTS 干扰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车内语音播报可能被误判为告警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TTS 录音放入噪声池作为负样本；告警+TTS 叠加放入素材库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280160"/>
            <a:ext cx="5486400" cy="1554480"/>
          </a:xfrm>
          <a:prstGeom prst="rect">
            <a:avLst/>
          </a:prstGeom>
          <a:solidFill>
            <a:srgbClr val="162344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E76F51"/>
                </a:solidFill>
                <a:latin typeface="Arial"/>
              </a:defRPr>
            </a:pPr>
            <a:r>
              <a:t>节奏差异 vs 频谱相似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ACC/FCW 同为脉冲型；Caution1/Caution2 响的部分频谱相同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CRNN 架构：CNN 提取频率特征 + GRU 建模时序，学到"响-停-响"节奏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3017520"/>
            <a:ext cx="5486400" cy="1554480"/>
          </a:xfrm>
          <a:prstGeom prst="rect">
            <a:avLst/>
          </a:prstGeom>
          <a:solidFill>
            <a:srgbClr val="162344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E76F51"/>
                </a:solidFill>
                <a:latin typeface="Arial"/>
              </a:defRPr>
            </a:pPr>
            <a:r>
              <a:t>合成训练 ≠ 真实推理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合成数据训练的模型在真实录音上水土不服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data/real_val/ 真实验证集 + 每个 epoch 自动评估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4754879"/>
            <a:ext cx="5486400" cy="1554480"/>
          </a:xfrm>
          <a:prstGeom prst="rect">
            <a:avLst/>
          </a:prstGeom>
          <a:solidFill>
            <a:srgbClr val="162344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E76F51"/>
                </a:solidFill>
                <a:latin typeface="Arial"/>
              </a:defRPr>
            </a:pPr>
            <a:r>
              <a:t>未知重复次数+顺序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告警种类、次数、顺序均不确定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滑窗+概率峰检测+连续模式自动切换；连续告警按周期推算次数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" cy="457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数据管线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303520" cy="3291840"/>
          </a:xfrm>
          <a:prstGeom prst="rect">
            <a:avLst/>
          </a:prstGeom>
          <a:solidFill>
            <a:srgbClr val="162344"/>
          </a:solidFill>
          <a:ln w="254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2EC4B6"/>
                </a:solidFill>
                <a:latin typeface="Arial"/>
              </a:defRPr>
            </a:pPr>
            <a:r>
              <a:t>训练数据流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data/alarms/ — 子目录=类名，文件名任意，支持单周期+长录音混放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data/noise/ — TTS、发动机、人声、行驶噪声、合成噪声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data_loader.py — 自动扫描目录、重采样22kHz、归一化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augment.py — 模板铺放法：完整告警周期随机位移铺入1.2s窗口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features.py — Mel频谱: 128频带×54帧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dataset.py — PyTorch Dataset，每次__getitem__调用augment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188720"/>
            <a:ext cx="5303520" cy="3291840"/>
          </a:xfrm>
          <a:prstGeom prst="rect">
            <a:avLst/>
          </a:prstGeom>
          <a:solidFill>
            <a:srgbClr val="162344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E76F51"/>
                </a:solidFill>
                <a:latin typeface="Arial"/>
              </a:defRPr>
            </a:pPr>
            <a:r>
              <a:t>增强策略 &amp; 真实验证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单告警 60%: 完整周期随机位移，加噪声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双告警 20%: 两个周期不同位置，可能重叠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纯噪声 20%: 从噪声池随机截取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真实验证集 data/real_val/ — 不参与训练，每epoch自动评估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labels.txt: 文件名=类1,类2,... （纯噪声右边留空）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" cy="457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模型架构: CRNN（CNN + Bi-GRU）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4B6"/>
                </a:solidFill>
                <a:latin typeface="Arial"/>
              </a:defRPr>
            </a:pPr>
            <a:r>
              <a:t>Mel 频谱输入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Arial"/>
              </a:defRPr>
            </a:pPr>
            <a:r>
              <a:t>[1×128×54 (1.2s 音频)]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4B6"/>
                </a:solidFill>
                <a:latin typeface="Arial"/>
              </a:defRPr>
            </a:pPr>
            <a:r>
              <a:t>Conv1 → 32ch, 3×3, BN, ReLU, 2× Freq Pool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691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Arial"/>
              </a:defRPr>
            </a:pPr>
            <a:r>
              <a:t>[32×64×54]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4B6"/>
                </a:solidFill>
                <a:latin typeface="Arial"/>
              </a:defRPr>
            </a:pPr>
            <a:r>
              <a:t>Conv2 → 64ch, 3×3, BN, ReLU, 2× Freq Pool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194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Arial"/>
              </a:defRPr>
            </a:pPr>
            <a:r>
              <a:t>[64×32×54]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4B6"/>
                </a:solidFill>
                <a:latin typeface="Arial"/>
              </a:defRPr>
            </a:pPr>
            <a:r>
              <a:t>Conv3 → 128ch, 3×3, BN, ReLU, 2× Freq Pool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697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Arial"/>
              </a:defRPr>
            </a:pPr>
            <a:r>
              <a:t>[128×16×54]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4B6"/>
                </a:solidFill>
                <a:latin typeface="Arial"/>
              </a:defRPr>
            </a:pPr>
            <a:r>
              <a:t>Conv4 → 128ch, 3×3, BN, ReLU (no pool)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Arial"/>
              </a:defRPr>
            </a:pPr>
            <a:r>
              <a:t>[128×16×54]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4B6"/>
                </a:solidFill>
                <a:latin typeface="Arial"/>
              </a:defRPr>
            </a:pPr>
            <a:r>
              <a:t>AdaptiveAvgPool2d((1,None)) + Reshape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703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Arial"/>
              </a:defRPr>
            </a:pPr>
            <a:r>
              <a:t>[54 timesteps × 128 features]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76F51"/>
                </a:solidFill>
                <a:latin typeface="Arial"/>
              </a:defRPr>
            </a:pPr>
            <a:r>
              <a:t>Bi-GRU ×2 (128 hidden, bidirectional, dropout 0.3)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206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Arial"/>
              </a:defRPr>
            </a:pPr>
            <a:r>
              <a:t>[54 × 256]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09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4B6"/>
                </a:solidFill>
                <a:latin typeface="Arial"/>
              </a:defRPr>
            </a:pPr>
            <a:r>
              <a:t>MaxPool over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709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Arial"/>
              </a:defRPr>
            </a:pPr>
            <a:r>
              <a:t>[256-dim]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4B6"/>
                </a:solidFill>
                <a:latin typeface="Arial"/>
              </a:defRPr>
            </a:pPr>
            <a:r>
              <a:t>Classifier: 256→64→8 + Dropout 0.3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5212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Arial"/>
              </a:defRPr>
            </a:pPr>
            <a:r>
              <a:t>[8-class logits]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15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76F51"/>
                </a:solidFill>
                <a:latin typeface="Arial"/>
              </a:defRPr>
            </a:pPr>
            <a:r>
              <a:t>Sigmoid → multi-hot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715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Arial"/>
              </a:defRPr>
            </a:pPr>
            <a:r>
              <a:t>[8 independent probabilities]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Arial"/>
              </a:defRPr>
            </a:pPr>
            <a:r>
              <a:t>总参数: 752,168  |  Loss: BCEWithLogitsLoss  |  Optimizer: Adam (LR=1e-3)  |  Scheduler: ReduceLROnPlateau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" cy="457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每一层做了什么 &amp; 为什么这样设计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972800" cy="777240"/>
          </a:xfrm>
          <a:prstGeom prst="rect">
            <a:avLst/>
          </a:prstGeom>
          <a:solidFill>
            <a:srgbClr val="162344"/>
          </a:solidFill>
          <a:ln w="25400">
            <a:solidFill>
              <a:srgbClr val="0A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2EC4B6"/>
                </a:solidFill>
                <a:latin typeface="Arial"/>
              </a:defRPr>
            </a:pPr>
            <a:r>
              <a:t>Conv1-3（频率池化，保留时间维）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3层卷积逐步压缩频率(128→64→32→16)，时间维始终保留。通道数1→32→64→128 逐步增加特征容量。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原因：只压频率不压时间，为GRU提供完整54帧时序序列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65960"/>
            <a:ext cx="10972800" cy="777240"/>
          </a:xfrm>
          <a:prstGeom prst="rect">
            <a:avLst/>
          </a:prstGeom>
          <a:solidFill>
            <a:srgbClr val="162344"/>
          </a:solidFill>
          <a:ln w="25400">
            <a:solidFill>
              <a:srgbClr val="0A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2EC4B6"/>
                </a:solidFill>
                <a:latin typeface="Arial"/>
              </a:defRPr>
            </a:pPr>
            <a:r>
              <a:t>Conv4（无池化）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128ch, 3×3卷积, 无池化。输出128×16×54。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原因：最后一层精炼特征，不再降维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34639"/>
            <a:ext cx="10972800" cy="777240"/>
          </a:xfrm>
          <a:prstGeom prst="rect">
            <a:avLst/>
          </a:prstGeom>
          <a:solidFill>
            <a:srgbClr val="162344"/>
          </a:solidFill>
          <a:ln w="25400">
            <a:solidFill>
              <a:srgbClr val="0A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2EC4B6"/>
                </a:solidFill>
                <a:latin typeface="Arial"/>
              </a:defRPr>
            </a:pPr>
            <a:r>
              <a:t>AdaptiveAvgPool2d((1,None))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频率维全局平均池化到1。输出128×1×54→Reshape为54×128。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原因：将每帧的频域信息压缩为128维特征向量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703320"/>
            <a:ext cx="10972800" cy="777240"/>
          </a:xfrm>
          <a:prstGeom prst="rect">
            <a:avLst/>
          </a:prstGeom>
          <a:solidFill>
            <a:srgbClr val="162344"/>
          </a:solidFill>
          <a:ln w="25400">
            <a:solidFill>
              <a:srgbClr val="0A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2EC4B6"/>
                </a:solidFill>
                <a:latin typeface="Arial"/>
              </a:defRPr>
            </a:pPr>
            <a:r>
              <a:t>Bi-GRU ×2（核心时序层）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54步×128维输入。128隐藏单元，2层，双向→输出256维/步。Dropout 0.3。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原因：前向GRU学'响→停'关系，后向GRU学'停→响'关系。双向拼接=完整上下文。2层=更深层次时序表征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10972800" cy="777240"/>
          </a:xfrm>
          <a:prstGeom prst="rect">
            <a:avLst/>
          </a:prstGeom>
          <a:solidFill>
            <a:srgbClr val="162344"/>
          </a:solidFill>
          <a:ln w="25400">
            <a:solidFill>
              <a:srgbClr val="0A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2EC4B6"/>
                </a:solidFill>
                <a:latin typeface="Arial"/>
              </a:defRPr>
            </a:pPr>
            <a:r>
              <a:t>MaxPool over Time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对GRU输出的54步取最大值。54×256→256。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原因：取最大激活值=确保任一帧触发就能响应。比Avg更适合稀疏事件检测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440680"/>
            <a:ext cx="10972800" cy="777240"/>
          </a:xfrm>
          <a:prstGeom prst="rect">
            <a:avLst/>
          </a:prstGeom>
          <a:solidFill>
            <a:srgbClr val="162344"/>
          </a:solidFill>
          <a:ln w="25400">
            <a:solidFill>
              <a:srgbClr val="0A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2EC4B6"/>
                </a:solidFill>
                <a:latin typeface="Arial"/>
              </a:defRPr>
            </a:pPr>
            <a:r>
              <a:t>独立Sigmoid输出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8个Sigmoid独立输出，非Softmax。多热标签。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原因：窗口内可同时输出ACC=1+FCW=1，天然支持重叠告警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" cy="457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训练策略 &amp; 调优历程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5486400" cy="2560320"/>
          </a:xfrm>
          <a:prstGeom prst="rect">
            <a:avLst/>
          </a:prstGeom>
          <a:solidFill>
            <a:srgbClr val="162344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E76F51"/>
                </a:solidFill>
                <a:latin typeface="Arial"/>
              </a:defRPr>
            </a:pPr>
            <a:r>
              <a:t>数据增强比例演变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初始：NO_ALARM=15% SINGLE=30% DUAL=35% TRIPLE=20%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问题：85%样本有告警，模型过度自信；25%为三告警，训练复杂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优化后：NO_ALARM=20% SINGLE=60% DUAL=20% TRIPLE=0%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新增：Caution1 pos_weight=1.5 防止被负样本淹没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097280"/>
            <a:ext cx="5120640" cy="2560320"/>
          </a:xfrm>
          <a:prstGeom prst="rect">
            <a:avLst/>
          </a:prstGeom>
          <a:solidFill>
            <a:srgbClr val="162344"/>
          </a:solidFill>
          <a:ln w="254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2EC4B6"/>
                </a:solidFill>
                <a:latin typeface="Arial"/>
              </a:defRPr>
            </a:pPr>
            <a:r>
              <a:t>推理阈值扫描（test_01.wav）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0.5→4Caution1误报+5FCW误报+1FEB误报 (9总)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0.6→3Caution2+0误报 ✓ (最佳)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0.7-0.8→2Caution2+5FCW高置信度误报 (阈值杀不掉)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0.9→2Caution2+3FCW (FCW conf=0.88-1.0, 训练层面问题)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10972800" cy="2560320"/>
          </a:xfrm>
          <a:prstGeom prst="rect">
            <a:avLst/>
          </a:prstGeom>
          <a:solidFill>
            <a:srgbClr val="162344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E76F51"/>
                </a:solidFill>
                <a:latin typeface="Arial"/>
              </a:defRPr>
            </a:pPr>
            <a:r>
              <a:t>5 个关键突破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1. CNN→CRNN: GRU加入时序建模，Caution2节奏识别大幅提升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2. 模板铺放法: 抛弃随机裁剪，用完整周期做原子。Caution2 F1 0.59→0.89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3. 负样本调优: 30%→20%+Caution1加权，FCW/FEB误报消除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4. 真实验证集: real_val 发现合成验证虚高问题，5/7→6/7提升可追踪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5. _is_continuous修复: 全局比例→最长连续段≥3周期，FEB 1次→12次，ACC 1次→10次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" cy="457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推理管线: 从音频到响铃时间点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103120" cy="2286000"/>
          </a:xfrm>
          <a:prstGeom prst="rect">
            <a:avLst/>
          </a:prstGeom>
          <a:solidFill>
            <a:srgbClr val="162344"/>
          </a:solidFill>
          <a:ln w="25400">
            <a:solidFill>
              <a:srgbClr val="0A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2EC4B6"/>
                </a:solidFill>
                <a:latin typeface="Arial"/>
              </a:defRPr>
            </a:pPr>
            <a:r>
              <a:t>1. 加载模型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自动检测CNN/CRNN类型，加载alarm_names，CPU推理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1188720"/>
            <a:ext cx="2103120" cy="2286000"/>
          </a:xfrm>
          <a:prstGeom prst="rect">
            <a:avLst/>
          </a:prstGeom>
          <a:solidFill>
            <a:srgbClr val="162344"/>
          </a:solidFill>
          <a:ln w="25400">
            <a:solidFill>
              <a:srgbClr val="0A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2EC4B6"/>
                </a:solidFill>
                <a:latin typeface="Arial"/>
              </a:defRPr>
            </a:pPr>
            <a:r>
              <a:t>2. 滑动窗口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1.2s窗口 / 0.1s步长。每窗口→mel→模型→8类概率向量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188720"/>
            <a:ext cx="2103120" cy="2286000"/>
          </a:xfrm>
          <a:prstGeom prst="rect">
            <a:avLst/>
          </a:prstGeom>
          <a:solidFill>
            <a:srgbClr val="162344"/>
          </a:solidFill>
          <a:ln w="25400">
            <a:solidFill>
              <a:srgbClr val="0A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2EC4B6"/>
                </a:solidFill>
                <a:latin typeface="Arial"/>
              </a:defRPr>
            </a:pPr>
            <a:r>
              <a:t>3. 概率序列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每类prob(t)，0.1s分辨率，连续概率曲线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188720"/>
            <a:ext cx="2103120" cy="2286000"/>
          </a:xfrm>
          <a:prstGeom prst="rect">
            <a:avLst/>
          </a:prstGeom>
          <a:solidFill>
            <a:srgbClr val="162344"/>
          </a:solidFill>
          <a:ln w="25400">
            <a:solidFill>
              <a:srgbClr val="0A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2EC4B6"/>
                </a:solidFill>
                <a:latin typeface="Arial"/>
              </a:defRPr>
            </a:pPr>
            <a:r>
              <a:t>4. 模式判断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连续？最长活跃段≥3周期。离散？find_peaks找峰。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0" y="1188720"/>
            <a:ext cx="2103120" cy="2286000"/>
          </a:xfrm>
          <a:prstGeom prst="rect">
            <a:avLst/>
          </a:prstGeom>
          <a:solidFill>
            <a:srgbClr val="162344"/>
          </a:solidFill>
          <a:ln w="25400">
            <a:solidFill>
              <a:srgbClr val="0A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2EC4B6"/>
                </a:solidFill>
                <a:latin typeface="Arial"/>
              </a:defRPr>
            </a:pPr>
            <a:r>
              <a:t>5. 响铃输出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离散：每峰=1次响。连续：按cycle_duration步进。含时间+置信度+数量。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49039"/>
            <a:ext cx="5303520" cy="2560320"/>
          </a:xfrm>
          <a:prstGeom prst="rect">
            <a:avLst/>
          </a:prstGeom>
          <a:solidFill>
            <a:srgbClr val="162344"/>
          </a:solidFill>
          <a:ln w="254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2EC4B6"/>
                </a:solidFill>
                <a:latin typeface="Arial"/>
              </a:defRPr>
            </a:pPr>
            <a:r>
              <a:t>连续模式 (detect_continuous_rings)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告警持续响(Dooropen连响7s)→概率平台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从首次检测开始，按cycle_duration步进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输出近似数量(±1-2次，受窗口拖尾影响)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标记为(approx, continuous)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749039"/>
            <a:ext cx="5303520" cy="2560320"/>
          </a:xfrm>
          <a:prstGeom prst="rect">
            <a:avLst/>
          </a:prstGeom>
          <a:solidFill>
            <a:srgbClr val="162344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E76F51"/>
                </a:solidFill>
                <a:latin typeface="Arial"/>
              </a:defRPr>
            </a:pPr>
            <a:r>
              <a:t>离散模式 + 可调参数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告警断续响→概率峰。find_peaks(height, distance, prominence)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--threshold 置信度门槛(默认0.6)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--min-ring-spacing 最小峰间距ms(默认300)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--model 指定模型路径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" cy="457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最终成果 &amp; 项目文件结构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474720" cy="2286000"/>
          </a:xfrm>
          <a:prstGeom prst="rect">
            <a:avLst/>
          </a:prstGeom>
          <a:solidFill>
            <a:srgbClr val="162344"/>
          </a:solidFill>
          <a:ln w="254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2EC4B6"/>
                </a:solidFill>
                <a:latin typeface="Arial"/>
              </a:defRPr>
            </a:pPr>
            <a:r>
              <a:t>模型指标 (合成验证)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Macro F1: 0.92-0.96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Caution1: 0.975  Caution2: 0.83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ACC: 0.95  Dooropen: 0.93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FCW: 0.96  FEB: 0.99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1097280"/>
            <a:ext cx="3474720" cy="2286000"/>
          </a:xfrm>
          <a:prstGeom prst="rect">
            <a:avLst/>
          </a:prstGeom>
          <a:solidFill>
            <a:srgbClr val="162344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E76F51"/>
                </a:solidFill>
                <a:latin typeface="Arial"/>
              </a:defRPr>
            </a:pPr>
            <a:r>
              <a:t>真实验证 (real_val)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6/7 真实文件识别通过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FEB 1→12次，ACC 1→10次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(连续模式修复后)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Caution2在test_01正确检测2次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097280"/>
            <a:ext cx="3474720" cy="2286000"/>
          </a:xfrm>
          <a:prstGeom prst="rect">
            <a:avLst/>
          </a:prstGeom>
          <a:solidFill>
            <a:srgbClr val="162344"/>
          </a:solidFill>
          <a:ln w="254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2EC4B6"/>
                </a:solidFill>
                <a:latin typeface="Arial"/>
              </a:defRPr>
            </a:pPr>
            <a:r>
              <a:t>推理性能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CPU: 10s音频≈5-10s推理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时间分辨率: 0.1s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连续/离散双模式自动切换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阈值0.6最佳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57600"/>
            <a:ext cx="10972800" cy="2560320"/>
          </a:xfrm>
          <a:prstGeom prst="rect">
            <a:avLst/>
          </a:prstGeom>
          <a:solidFill>
            <a:srgbClr val="162344"/>
          </a:solidFill>
          <a:ln w="254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2EC4B6"/>
                </a:solidFill>
                <a:latin typeface="Arial"/>
              </a:defRPr>
            </a:pPr>
            <a:r>
              <a:t>项目文件结构 &amp; 技术栈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src/: config / data_loader / augment / dataset / model / features / train / infer / record_classify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data/: alarms(子目录=类名) / noise(背景噪声) / real_val(真实验证集+labels.txt)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models/: 训练输出按run_YYYYMMDD_HHMMSS存放, best_model.pt为最新符号链接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技术栈: PyTorch + Librosa + SoundFile + scikit-learn + SciPy(find_peaks)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架构: CNN骨干(4层Conv) + Bi-GRU(2层×128) + 分类头(256→64→8) + 多热标签 + BCEWithLogitsLoss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增强: 模板铺放法 + Mel频谱(128×54) + 随机SNR噪声(-5~+20dB) + 多告警重叠合成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" cy="457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端到端时序流程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6F51"/>
                </a:solidFill>
                <a:latin typeface="Arial"/>
              </a:defRPr>
            </a:pPr>
            <a:r>
              <a:t>训练管线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554480" cy="777240"/>
          </a:xfrm>
          <a:prstGeom prst="rect">
            <a:avLst/>
          </a:prstGeom>
          <a:solidFill>
            <a:srgbClr val="162344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750">
                <a:solidFill>
                  <a:srgbClr val="2EC4B6"/>
                </a:solidFill>
                <a:latin typeface="Arial"/>
              </a:defRPr>
            </a:pPr>
            <a:r>
              <a:t>data/alarms/</a:t>
            </a:r>
            <a:br/>
            <a:r>
              <a:t>data/noise/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8288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1645920"/>
            <a:ext cx="1554480" cy="777240"/>
          </a:xfrm>
          <a:prstGeom prst="rect">
            <a:avLst/>
          </a:prstGeom>
          <a:solidFill>
            <a:srgbClr val="162344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750">
                <a:solidFill>
                  <a:srgbClr val="2EC4B6"/>
                </a:solidFill>
                <a:latin typeface="Arial"/>
              </a:defRPr>
            </a:pPr>
            <a:r>
              <a:t>data_loader.py</a:t>
            </a:r>
            <a:br/>
            <a:r>
              <a:t>扫描/重采样/归一化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8288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645920"/>
            <a:ext cx="1554480" cy="777240"/>
          </a:xfrm>
          <a:prstGeom prst="rect">
            <a:avLst/>
          </a:prstGeom>
          <a:solidFill>
            <a:srgbClr val="162344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750">
                <a:solidFill>
                  <a:srgbClr val="2EC4B6"/>
                </a:solidFill>
                <a:latin typeface="Arial"/>
              </a:defRPr>
            </a:pPr>
            <a:r>
              <a:t>augment.py</a:t>
            </a:r>
            <a:br/>
            <a:r>
              <a:t>模板铺放+噪声混合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8288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1645920"/>
            <a:ext cx="1554480" cy="777240"/>
          </a:xfrm>
          <a:prstGeom prst="rect">
            <a:avLst/>
          </a:prstGeom>
          <a:solidFill>
            <a:srgbClr val="162344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750">
                <a:solidFill>
                  <a:srgbClr val="2EC4B6"/>
                </a:solidFill>
                <a:latin typeface="Arial"/>
              </a:defRPr>
            </a:pPr>
            <a:r>
              <a:t>features.py</a:t>
            </a:r>
            <a:br/>
            <a:r>
              <a:t>Mel频谱(128×54)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8288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645920"/>
            <a:ext cx="1554480" cy="777240"/>
          </a:xfrm>
          <a:prstGeom prst="rect">
            <a:avLst/>
          </a:prstGeom>
          <a:solidFill>
            <a:srgbClr val="162344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750">
                <a:solidFill>
                  <a:srgbClr val="E76F51"/>
                </a:solidFill>
                <a:latin typeface="Arial"/>
              </a:defRPr>
            </a:pPr>
            <a:r>
              <a:t>CRNN</a:t>
            </a:r>
            <a:br/>
            <a:r>
              <a:t>前向传播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8288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1645920"/>
            <a:ext cx="1554480" cy="777240"/>
          </a:xfrm>
          <a:prstGeom prst="rect">
            <a:avLst/>
          </a:prstGeom>
          <a:solidFill>
            <a:srgbClr val="162344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750">
                <a:solidFill>
                  <a:srgbClr val="E76F51"/>
                </a:solidFill>
                <a:latin typeface="Arial"/>
              </a:defRPr>
            </a:pPr>
            <a:r>
              <a:t>BCEWithLogits</a:t>
            </a:r>
            <a:br/>
            <a:r>
              <a:t>Loss + 反向传播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18288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07040" y="1645920"/>
            <a:ext cx="1554480" cy="777240"/>
          </a:xfrm>
          <a:prstGeom prst="rect">
            <a:avLst/>
          </a:prstGeom>
          <a:solidFill>
            <a:srgbClr val="162344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750">
                <a:solidFill>
                  <a:srgbClr val="2EC4B6"/>
                </a:solidFill>
                <a:latin typeface="Arial"/>
              </a:defRPr>
            </a:pPr>
            <a:r>
              <a:t>ReduceLROnPlateau</a:t>
            </a:r>
            <a:br/>
            <a:r>
              <a:t>早停/保存最佳模型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9AA"/>
                </a:solidFill>
                <a:latin typeface="Arial"/>
              </a:defRPr>
            </a:pPr>
            <a:r>
              <a:t>每 epoch 4000 个合成样本 → 验证(合成1000+真实验证) → 重复 EPOCHS 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4B6"/>
                </a:solidFill>
                <a:latin typeface="Arial"/>
              </a:defRPr>
            </a:pPr>
            <a:r>
              <a:t>推理管线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3383280"/>
            <a:ext cx="1371600" cy="777240"/>
          </a:xfrm>
          <a:prstGeom prst="rect">
            <a:avLst/>
          </a:prstGeom>
          <a:solidFill>
            <a:srgbClr val="162344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750">
                <a:solidFill>
                  <a:srgbClr val="E76F51"/>
                </a:solidFill>
                <a:latin typeface="Arial"/>
              </a:defRPr>
            </a:pPr>
            <a:r>
              <a:t>test.wav</a:t>
            </a:r>
            <a:br/>
            <a:r>
              <a:t>原始音频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566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64208" y="3383280"/>
            <a:ext cx="1371600" cy="777240"/>
          </a:xfrm>
          <a:prstGeom prst="rect">
            <a:avLst/>
          </a:prstGeom>
          <a:solidFill>
            <a:srgbClr val="162344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750">
                <a:solidFill>
                  <a:srgbClr val="2EC4B6"/>
                </a:solidFill>
                <a:latin typeface="Arial"/>
              </a:defRPr>
            </a:pPr>
            <a:r>
              <a:t>librosa.load</a:t>
            </a:r>
            <a:br/>
            <a:r>
              <a:t>重采样22kHz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3566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45536" y="3383280"/>
            <a:ext cx="1371600" cy="777240"/>
          </a:xfrm>
          <a:prstGeom prst="rect">
            <a:avLst/>
          </a:prstGeom>
          <a:solidFill>
            <a:srgbClr val="162344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750">
                <a:solidFill>
                  <a:srgbClr val="2EC4B6"/>
                </a:solidFill>
                <a:latin typeface="Arial"/>
              </a:defRPr>
            </a:pPr>
            <a:r>
              <a:t>滑动窗口</a:t>
            </a:r>
            <a:br/>
            <a:r>
              <a:t>1.2s窗/0.1s步长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3566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26864" y="3383280"/>
            <a:ext cx="1371600" cy="777240"/>
          </a:xfrm>
          <a:prstGeom prst="rect">
            <a:avLst/>
          </a:prstGeom>
          <a:solidFill>
            <a:srgbClr val="162344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750">
                <a:solidFill>
                  <a:srgbClr val="2EC4B6"/>
                </a:solidFill>
                <a:latin typeface="Arial"/>
              </a:defRPr>
            </a:pPr>
            <a:r>
              <a:t>features.py</a:t>
            </a:r>
            <a:br/>
            <a:r>
              <a:t>Mel频谱(128×54)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98464" y="3566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08192" y="3383280"/>
            <a:ext cx="1371600" cy="777240"/>
          </a:xfrm>
          <a:prstGeom prst="rect">
            <a:avLst/>
          </a:prstGeom>
          <a:solidFill>
            <a:srgbClr val="162344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750">
                <a:solidFill>
                  <a:srgbClr val="E76F51"/>
                </a:solidFill>
                <a:latin typeface="Arial"/>
              </a:defRPr>
            </a:pPr>
            <a:r>
              <a:t>CRNN</a:t>
            </a:r>
            <a:br/>
            <a:r>
              <a:t>前向传播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3566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3383280"/>
            <a:ext cx="1371600" cy="777240"/>
          </a:xfrm>
          <a:prstGeom prst="rect">
            <a:avLst/>
          </a:prstGeom>
          <a:solidFill>
            <a:srgbClr val="162344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750">
                <a:solidFill>
                  <a:srgbClr val="2EC4B6"/>
                </a:solidFill>
                <a:latin typeface="Arial"/>
              </a:defRPr>
            </a:pPr>
            <a:r>
              <a:t>Sigmoid→概率</a:t>
            </a:r>
            <a:br/>
            <a:r>
              <a:t>8类prob(t)曲线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566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70848" y="3383280"/>
            <a:ext cx="1371600" cy="777240"/>
          </a:xfrm>
          <a:prstGeom prst="rect">
            <a:avLst/>
          </a:prstGeom>
          <a:solidFill>
            <a:srgbClr val="162344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750">
                <a:solidFill>
                  <a:srgbClr val="E76F51"/>
                </a:solidFill>
                <a:latin typeface="Arial"/>
              </a:defRPr>
            </a:pPr>
            <a:r>
              <a:t>find_peaks或</a:t>
            </a:r>
            <a:br/>
            <a:r>
              <a:t>连续模式判断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42448" y="3566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52176" y="3383280"/>
            <a:ext cx="1371600" cy="777240"/>
          </a:xfrm>
          <a:prstGeom prst="rect">
            <a:avLst/>
          </a:prstGeom>
          <a:solidFill>
            <a:srgbClr val="162344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750">
                <a:solidFill>
                  <a:srgbClr val="E76F51"/>
                </a:solidFill>
                <a:latin typeface="Arial"/>
              </a:defRPr>
            </a:pPr>
            <a:r>
              <a:t>输出：类别+时间</a:t>
            </a:r>
            <a:br/>
            <a:r>
              <a:t>+次数+置信度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389120"/>
            <a:ext cx="5303520" cy="1828800"/>
          </a:xfrm>
          <a:prstGeom prst="rect">
            <a:avLst/>
          </a:prstGeom>
          <a:solidFill>
            <a:srgbClr val="162344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E76F51"/>
                </a:solidFill>
                <a:latin typeface="Arial"/>
              </a:defRPr>
            </a:pPr>
            <a:r>
              <a:t>训练反馈闭环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val_macro_f1 监控合成验证是否在学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real_val 真实验证防止合成过拟合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早停 patience=12 避免无用训练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每 epoch 后 real-val 结果对比 → 决定何时停止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89120"/>
            <a:ext cx="5303520" cy="1828800"/>
          </a:xfrm>
          <a:prstGeom prst="rect">
            <a:avLst/>
          </a:prstGeom>
          <a:solidFill>
            <a:srgbClr val="162344"/>
          </a:solidFill>
          <a:ln w="254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2EC4B6"/>
                </a:solidFill>
                <a:latin typeface="Arial"/>
              </a:defRPr>
            </a:pPr>
            <a:r>
              <a:t>推理后处理（infer.py）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_is_continuous: 最长连续活跃 ≥ 3×周期 → 连续模式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_detect_continuous_rings: 按步长 → 估算次数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_detect_discrete_rings: find_peaks → 每峰=1次</a:t>
            </a:r>
          </a:p>
          <a:p>
            <a:pPr>
              <a:spcBef>
                <a:spcPts val="400"/>
              </a:spcBef>
              <a:defRPr sz="1000">
                <a:solidFill>
                  <a:srgbClr val="B0C0D0"/>
                </a:solidFill>
                <a:latin typeface="Arial"/>
              </a:defRPr>
            </a:pPr>
            <a:r>
              <a:t>输出：每类告警 × 几次 × 在哪些时间点 × 置信度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